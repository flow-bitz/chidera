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57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3" r:id="rId16"/>
    <p:sldId id="276" r:id="rId17"/>
    <p:sldId id="277" r:id="rId18"/>
    <p:sldId id="274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69" r:id="rId36"/>
    <p:sldId id="270" r:id="rId37"/>
    <p:sldId id="271" r:id="rId38"/>
    <p:sldId id="272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INTRODUCTION TO FRONTEND DEVELOPMENT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760153"/>
            <a:ext cx="9144000" cy="1655762"/>
          </a:xfrm>
        </p:spPr>
        <p:txBody>
          <a:bodyPr/>
          <a:lstStyle/>
          <a:p>
            <a:pPr algn="ctr"/>
            <a:r>
              <a:rPr lang="en-US"/>
              <a:t>HTML, CSS &amp; JAVASCRIPT</a:t>
            </a:r>
            <a:endParaRPr lang="en-US"/>
          </a:p>
          <a:p>
            <a:pPr algn="ctr"/>
            <a:endParaRPr lang="en-US"/>
          </a:p>
          <a:p>
            <a:pPr algn="ctr"/>
            <a:r>
              <a:rPr lang="en-US"/>
              <a:t>Course: Web Development Training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50265"/>
            <a:ext cx="10515600" cy="1325563"/>
          </a:xfrm>
        </p:spPr>
        <p:txBody>
          <a:bodyPr/>
          <a:p>
            <a:r>
              <a:rPr lang="en-US" altLang="en-GB" b="1"/>
              <a:t>Learning Objectives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76145"/>
            <a:ext cx="10515600" cy="2508885"/>
          </a:xfrm>
        </p:spPr>
        <p:txBody>
          <a:bodyPr/>
          <a:p>
            <a:r>
              <a:rPr lang="en-US" altLang="en-GB"/>
              <a:t>Define Frontend Web Development</a:t>
            </a:r>
            <a:endParaRPr lang="en-US" altLang="en-GB"/>
          </a:p>
          <a:p>
            <a:r>
              <a:rPr lang="en-US" altLang="en-GB"/>
              <a:t>Identify the core frontend technologies</a:t>
            </a:r>
            <a:endParaRPr lang="en-US" altLang="en-GB"/>
          </a:p>
          <a:p>
            <a:r>
              <a:rPr lang="en-US" altLang="en-GB"/>
              <a:t>Explain how HTML, CSS, and JavaScript work together</a:t>
            </a:r>
            <a:endParaRPr lang="en-US" altLang="en-GB"/>
          </a:p>
          <a:p>
            <a:r>
              <a:rPr lang="en-US" altLang="en-GB"/>
              <a:t>Recognize common frontend tools and frameworks</a:t>
            </a:r>
            <a:endParaRPr lang="en-US" alt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12470"/>
            <a:ext cx="10515600" cy="1325563"/>
          </a:xfrm>
        </p:spPr>
        <p:txBody>
          <a:bodyPr/>
          <a:p>
            <a:r>
              <a:rPr lang="en-US" altLang="en-GB" b="1"/>
              <a:t>WHAT IS FRONTEND WEB DEVELOPMENT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406015"/>
            <a:ext cx="10515600" cy="3225165"/>
          </a:xfrm>
        </p:spPr>
        <p:txBody>
          <a:bodyPr/>
          <a:p>
            <a:r>
              <a:rPr lang="en-US" altLang="en-GB"/>
              <a:t>Frontend web development is the process of creating the part of a website that users can see and interact with directly.</a:t>
            </a:r>
            <a:endParaRPr lang="en-US" altLang="en-GB"/>
          </a:p>
          <a:p>
            <a:pPr marL="0" indent="0">
              <a:buNone/>
            </a:pPr>
            <a:endParaRPr lang="en-US" altLang="en-GB"/>
          </a:p>
          <a:p>
            <a:r>
              <a:rPr lang="en-US" altLang="en-GB"/>
              <a:t>Everything a user sees on a webpage such as text, images, buttons, forms, menus, and animation </a:t>
            </a:r>
            <a:endParaRPr lang="en-US" alt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/>
              <a:t>Examples of Frontend Elements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/>
              <a:t>Website layouts</a:t>
            </a:r>
            <a:endParaRPr lang="en-US" altLang="en-GB"/>
          </a:p>
          <a:p>
            <a:r>
              <a:rPr lang="en-US" altLang="en-GB"/>
              <a:t>Navigation menus</a:t>
            </a:r>
            <a:endParaRPr lang="en-US" altLang="en-GB"/>
          </a:p>
          <a:p>
            <a:r>
              <a:rPr lang="en-US" altLang="en-GB"/>
              <a:t>Buttons and Links</a:t>
            </a:r>
            <a:endParaRPr lang="en-US" altLang="en-GB"/>
          </a:p>
          <a:p>
            <a:r>
              <a:rPr lang="en-US" altLang="en-GB"/>
              <a:t>Images and Videos</a:t>
            </a:r>
            <a:endParaRPr lang="en-US" altLang="en-GB"/>
          </a:p>
          <a:p>
            <a:r>
              <a:rPr lang="en-US" altLang="en-GB"/>
              <a:t>Forms and input fields</a:t>
            </a:r>
            <a:endParaRPr lang="en-US" altLang="en-GB"/>
          </a:p>
          <a:p>
            <a:r>
              <a:rPr lang="en-US" altLang="en-GB"/>
              <a:t>Colors and typography</a:t>
            </a:r>
            <a:endParaRPr lang="en-US" altLang="en-GB"/>
          </a:p>
          <a:p>
            <a:r>
              <a:rPr lang="en-US" altLang="en-GB"/>
              <a:t>Animations and effects</a:t>
            </a:r>
            <a:endParaRPr lang="en-US" alt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12445"/>
            <a:ext cx="10515600" cy="1325563"/>
          </a:xfrm>
        </p:spPr>
        <p:txBody>
          <a:bodyPr/>
          <a:p>
            <a:r>
              <a:rPr lang="en-US" altLang="en-GB" b="1"/>
              <a:t>Importance of Frontend Development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35810"/>
            <a:ext cx="10515600" cy="4351338"/>
          </a:xfrm>
        </p:spPr>
        <p:txBody>
          <a:bodyPr/>
          <a:p>
            <a:r>
              <a:rPr lang="en-US" altLang="en-GB"/>
              <a:t>Creates the first impression of a website</a:t>
            </a:r>
            <a:endParaRPr lang="en-US" altLang="en-GB"/>
          </a:p>
          <a:p>
            <a:r>
              <a:rPr lang="en-US" altLang="en-GB"/>
              <a:t>Improves user experience</a:t>
            </a:r>
            <a:endParaRPr lang="en-US" altLang="en-GB"/>
          </a:p>
          <a:p>
            <a:r>
              <a:rPr lang="en-US" altLang="en-GB"/>
              <a:t>Makes websites visually appealing</a:t>
            </a:r>
            <a:endParaRPr lang="en-US" altLang="en-GB"/>
          </a:p>
          <a:p>
            <a:r>
              <a:rPr lang="en-US" altLang="en-GB"/>
              <a:t>Ensures websites work on different devices (Responsive)</a:t>
            </a:r>
            <a:endParaRPr lang="en-US" altLang="en-GB"/>
          </a:p>
          <a:p>
            <a:r>
              <a:rPr lang="en-US" altLang="en-GB"/>
              <a:t>Helps users interact with web applications easily</a:t>
            </a:r>
            <a:endParaRPr lang="en-US" alt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16000"/>
            <a:ext cx="10515600" cy="1325563"/>
          </a:xfrm>
        </p:spPr>
        <p:txBody>
          <a:bodyPr/>
          <a:p>
            <a:r>
              <a:rPr lang="en-US" altLang="en-GB" b="1"/>
              <a:t>Core Technologies of Frontend Development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06345"/>
            <a:ext cx="10515600" cy="3465195"/>
          </a:xfrm>
        </p:spPr>
        <p:txBody>
          <a:bodyPr/>
          <a:p>
            <a:pPr marL="0" indent="0">
              <a:buNone/>
            </a:pPr>
            <a:r>
              <a:rPr lang="en-US" altLang="en-GB"/>
              <a:t>Frontend development is built on three main technologies:</a:t>
            </a:r>
            <a:endParaRPr lang="en-US" altLang="en-GB"/>
          </a:p>
          <a:p>
            <a:r>
              <a:rPr lang="en-US" altLang="en-GB"/>
              <a:t>HTML (HyperText Markup Language)</a:t>
            </a:r>
            <a:endParaRPr lang="en-US" altLang="en-GB"/>
          </a:p>
          <a:p>
            <a:r>
              <a:rPr lang="en-US" altLang="en-GB"/>
              <a:t>CSS (Cascading Style Sheets)</a:t>
            </a:r>
            <a:endParaRPr lang="en-US" altLang="en-GB"/>
          </a:p>
          <a:p>
            <a:r>
              <a:rPr lang="en-US" altLang="en-GB"/>
              <a:t>JavaScript</a:t>
            </a:r>
            <a:endParaRPr lang="en-US" altLang="en-GB"/>
          </a:p>
          <a:p>
            <a:endParaRPr lang="en-US" altLang="en-GB"/>
          </a:p>
          <a:p>
            <a:pPr marL="0" indent="0">
              <a:buNone/>
            </a:pPr>
            <a:r>
              <a:rPr lang="en-US" altLang="en-GB"/>
              <a:t>These are known as the building blocks of modern websites</a:t>
            </a:r>
            <a:endParaRPr lang="en-US" alt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/>
              <a:t>HTML (HyperText Markup Language)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GB"/>
              <a:t>HTML provides the structure of a webpage</a:t>
            </a:r>
            <a:endParaRPr lang="en-US" altLang="en-GB"/>
          </a:p>
          <a:p>
            <a:pPr marL="0" indent="0">
              <a:buNone/>
            </a:pPr>
            <a:endParaRPr lang="en-US" altLang="en-GB"/>
          </a:p>
          <a:p>
            <a:pPr marL="0" indent="0">
              <a:buNone/>
            </a:pPr>
            <a:r>
              <a:rPr lang="en-US" altLang="en-GB"/>
              <a:t>HTML Elements include:</a:t>
            </a:r>
            <a:endParaRPr lang="en-US" altLang="en-GB"/>
          </a:p>
          <a:p>
            <a:r>
              <a:rPr lang="en-US" altLang="en-GB"/>
              <a:t>Headings</a:t>
            </a:r>
            <a:endParaRPr lang="en-US" altLang="en-GB"/>
          </a:p>
          <a:p>
            <a:r>
              <a:rPr lang="en-US" altLang="en-GB"/>
              <a:t>Paragraphs</a:t>
            </a:r>
            <a:endParaRPr lang="en-US" altLang="en-GB"/>
          </a:p>
          <a:p>
            <a:r>
              <a:rPr lang="en-US" altLang="en-GB"/>
              <a:t>Images</a:t>
            </a:r>
            <a:endParaRPr lang="en-US" altLang="en-GB"/>
          </a:p>
          <a:p>
            <a:r>
              <a:rPr lang="en-US" altLang="en-GB"/>
              <a:t>Links</a:t>
            </a:r>
            <a:endParaRPr lang="en-US" altLang="en-GB"/>
          </a:p>
          <a:p>
            <a:r>
              <a:rPr lang="en-US" altLang="en-GB"/>
              <a:t>Tables</a:t>
            </a:r>
            <a:endParaRPr lang="en-US" altLang="en-GB"/>
          </a:p>
          <a:p>
            <a:r>
              <a:rPr lang="en-US" altLang="en-GB"/>
              <a:t>Forms</a:t>
            </a:r>
            <a:endParaRPr lang="en-US" alt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/>
              <a:t>CSS (Cascading Style Sheets)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GB"/>
              <a:t>CSS is used to style and design the webpages</a:t>
            </a:r>
            <a:endParaRPr lang="en-US" altLang="en-GB"/>
          </a:p>
          <a:p>
            <a:pPr marL="0" indent="0">
              <a:buNone/>
            </a:pPr>
            <a:endParaRPr lang="en-US" altLang="en-GB"/>
          </a:p>
          <a:p>
            <a:pPr marL="0" indent="0">
              <a:buNone/>
            </a:pPr>
            <a:r>
              <a:rPr lang="en-US" altLang="en-GB"/>
              <a:t>CSS Controls:</a:t>
            </a:r>
            <a:endParaRPr lang="en-US" altLang="en-GB"/>
          </a:p>
          <a:p>
            <a:r>
              <a:rPr lang="en-US" altLang="en-GB"/>
              <a:t>Colors</a:t>
            </a:r>
            <a:endParaRPr lang="en-US" altLang="en-GB"/>
          </a:p>
          <a:p>
            <a:r>
              <a:rPr lang="en-US" altLang="en-GB"/>
              <a:t>Fonts</a:t>
            </a:r>
            <a:endParaRPr lang="en-US" altLang="en-GB"/>
          </a:p>
          <a:p>
            <a:r>
              <a:rPr lang="en-US" altLang="en-GB"/>
              <a:t>Layouts</a:t>
            </a:r>
            <a:endParaRPr lang="en-US" altLang="en-GB"/>
          </a:p>
          <a:p>
            <a:r>
              <a:rPr lang="en-US" altLang="en-GB"/>
              <a:t>Spacing</a:t>
            </a:r>
            <a:endParaRPr lang="en-US" altLang="en-GB"/>
          </a:p>
          <a:p>
            <a:r>
              <a:rPr lang="en-US" altLang="en-GB"/>
              <a:t>Animations</a:t>
            </a:r>
            <a:endParaRPr lang="en-US" altLang="en-GB"/>
          </a:p>
          <a:p>
            <a:r>
              <a:rPr lang="en-US" altLang="en-GB"/>
              <a:t>Responsive design</a:t>
            </a:r>
            <a:endParaRPr lang="en-US" alt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/>
              <a:t>JavaScript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/>
              <a:t>JavaScript makes websites interactive and dynamic</a:t>
            </a:r>
            <a:endParaRPr lang="en-US" altLang="en-GB"/>
          </a:p>
          <a:p>
            <a:pPr marL="0" indent="0">
              <a:buNone/>
            </a:pPr>
            <a:endParaRPr lang="en-US" altLang="en-GB"/>
          </a:p>
          <a:p>
            <a:pPr marL="0" indent="0">
              <a:buNone/>
            </a:pPr>
            <a:r>
              <a:rPr lang="en-US" altLang="en-GB"/>
              <a:t>Uses:</a:t>
            </a:r>
            <a:endParaRPr lang="en-US" altLang="en-GB"/>
          </a:p>
          <a:p>
            <a:r>
              <a:rPr lang="en-US" altLang="en-GB"/>
              <a:t>Form validation</a:t>
            </a:r>
            <a:endParaRPr lang="en-US" altLang="en-GB"/>
          </a:p>
          <a:p>
            <a:r>
              <a:rPr lang="en-US" altLang="en-GB"/>
              <a:t>Pop-up</a:t>
            </a:r>
            <a:endParaRPr lang="en-US" altLang="en-GB"/>
          </a:p>
          <a:p>
            <a:r>
              <a:rPr lang="en-US" altLang="en-GB"/>
              <a:t>Animation</a:t>
            </a:r>
            <a:endParaRPr lang="en-US" altLang="en-GB"/>
          </a:p>
          <a:p>
            <a:r>
              <a:rPr lang="en-US" altLang="en-GB"/>
              <a:t>Dynamic content updates</a:t>
            </a:r>
            <a:endParaRPr lang="en-US" alt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/>
              <a:t>How they all work together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/>
              <a:t>House Anology;</a:t>
            </a:r>
            <a:endParaRPr lang="en-US" altLang="en-GB"/>
          </a:p>
          <a:p>
            <a:pPr marL="0" indent="0">
              <a:buNone/>
            </a:pPr>
            <a:r>
              <a:rPr lang="en-US" altLang="en-GB" b="1"/>
              <a:t>HTML </a:t>
            </a:r>
            <a:r>
              <a:rPr lang="en-US" altLang="en-GB"/>
              <a:t>= Structure of the house (Structure)</a:t>
            </a:r>
            <a:endParaRPr lang="en-US" altLang="en-GB"/>
          </a:p>
          <a:p>
            <a:pPr marL="0" indent="0">
              <a:buNone/>
            </a:pPr>
            <a:r>
              <a:rPr lang="en-US" altLang="en-GB" b="1"/>
              <a:t>CSS </a:t>
            </a:r>
            <a:r>
              <a:rPr lang="en-US" altLang="en-GB"/>
              <a:t>= Paint and Decoration (Styling)</a:t>
            </a:r>
            <a:endParaRPr lang="en-US" altLang="en-GB"/>
          </a:p>
          <a:p>
            <a:pPr marL="0" indent="0">
              <a:buNone/>
            </a:pPr>
            <a:r>
              <a:rPr lang="en-US" altLang="en-GB" b="1"/>
              <a:t>JavaScript</a:t>
            </a:r>
            <a:r>
              <a:rPr lang="en-US" altLang="en-GB"/>
              <a:t> = Electricity and automation (Functionality)</a:t>
            </a:r>
            <a:endParaRPr lang="en-US" altLang="en-GB"/>
          </a:p>
          <a:p>
            <a:pPr marL="0" indent="0">
              <a:buNone/>
            </a:pPr>
            <a:endParaRPr lang="en-US" altLang="en-GB"/>
          </a:p>
          <a:p>
            <a:pPr marL="0" indent="0">
              <a:buNone/>
            </a:pPr>
            <a:r>
              <a:rPr lang="en-US" altLang="en-GB"/>
              <a:t>Together they create a complete website</a:t>
            </a:r>
            <a:endParaRPr lang="en-US" alt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/>
              <a:t>Tools used by Frontend Developers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0563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GB"/>
              <a:t>Code Editors</a:t>
            </a:r>
            <a:endParaRPr lang="en-US" altLang="en-GB"/>
          </a:p>
          <a:p>
            <a:r>
              <a:rPr lang="en-US" altLang="en-GB"/>
              <a:t>VS Code - Integrated Development Environment (IDE)</a:t>
            </a:r>
            <a:endParaRPr lang="en-US" altLang="en-GB"/>
          </a:p>
          <a:p>
            <a:r>
              <a:rPr lang="en-US" altLang="en-GB"/>
              <a:t>Sublime Text</a:t>
            </a:r>
            <a:endParaRPr lang="en-US" altLang="en-GB"/>
          </a:p>
          <a:p>
            <a:r>
              <a:rPr lang="en-US" altLang="en-GB"/>
              <a:t>Notepad++</a:t>
            </a:r>
            <a:endParaRPr lang="en-US" altLang="en-GB"/>
          </a:p>
          <a:p>
            <a:pPr marL="0" indent="0">
              <a:buNone/>
            </a:pPr>
            <a:endParaRPr lang="en-US" altLang="en-GB"/>
          </a:p>
          <a:p>
            <a:pPr marL="0" indent="0">
              <a:buNone/>
            </a:pPr>
            <a:r>
              <a:rPr lang="en-US" altLang="en-GB"/>
              <a:t>Browers</a:t>
            </a:r>
            <a:endParaRPr lang="en-US" altLang="en-GB"/>
          </a:p>
          <a:p>
            <a:r>
              <a:rPr lang="en-US" altLang="en-GB"/>
              <a:t>Google Chrome</a:t>
            </a:r>
            <a:endParaRPr lang="en-US" altLang="en-GB"/>
          </a:p>
          <a:p>
            <a:r>
              <a:rPr lang="en-US" altLang="en-GB"/>
              <a:t>Mozilla Firefox</a:t>
            </a:r>
            <a:endParaRPr lang="en-US" altLang="en-GB"/>
          </a:p>
          <a:p>
            <a:r>
              <a:rPr lang="en-US" altLang="en-GB"/>
              <a:t>Microsoft Edge</a:t>
            </a:r>
            <a:endParaRPr lang="en-US" alt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16915"/>
            <a:ext cx="10515600" cy="1325563"/>
          </a:xfrm>
        </p:spPr>
        <p:txBody>
          <a:bodyPr/>
          <a:p>
            <a:r>
              <a:rPr lang="en-US" altLang="en-GB" b="1"/>
              <a:t>HTML tags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42795"/>
            <a:ext cx="10841990" cy="3470275"/>
          </a:xfrm>
        </p:spPr>
        <p:txBody>
          <a:bodyPr>
            <a:normAutofit lnSpcReduction="10000"/>
          </a:bodyPr>
          <a:p>
            <a:r>
              <a:rPr lang="en-US" altLang="en-GB">
                <a:sym typeface="+mn-ea"/>
              </a:rPr>
              <a:t>&lt;!DOCTYPE&gt; - Defines the document type</a:t>
            </a:r>
            <a:endParaRPr lang="en-US" altLang="en-GB">
              <a:sym typeface="+mn-ea"/>
            </a:endParaRPr>
          </a:p>
          <a:p>
            <a:r>
              <a:rPr lang="en-US" altLang="en-GB">
                <a:sym typeface="+mn-ea"/>
              </a:rPr>
              <a:t>&lt;html&gt; - Starts the HTML document &lt;/html&gt;</a:t>
            </a:r>
            <a:endParaRPr lang="en-US" altLang="en-GB">
              <a:sym typeface="+mn-ea"/>
            </a:endParaRPr>
          </a:p>
          <a:p>
            <a:r>
              <a:rPr lang="en-US" altLang="en-GB">
                <a:sym typeface="+mn-ea"/>
              </a:rPr>
              <a:t>&lt;head&gt; - Contains page information</a:t>
            </a:r>
            <a:endParaRPr lang="en-US" altLang="en-GB">
              <a:sym typeface="+mn-ea"/>
            </a:endParaRPr>
          </a:p>
          <a:p>
            <a:r>
              <a:rPr lang="en-US" altLang="en-GB">
                <a:sym typeface="+mn-ea"/>
              </a:rPr>
              <a:t>&lt;title&gt; - Browser tab title</a:t>
            </a:r>
            <a:endParaRPr lang="en-US" altLang="en-GB">
              <a:sym typeface="+mn-ea"/>
            </a:endParaRPr>
          </a:p>
          <a:p>
            <a:r>
              <a:rPr lang="en-US" altLang="en-GB">
                <a:sym typeface="+mn-ea"/>
              </a:rPr>
              <a:t>&lt;body&gt; - Visible content</a:t>
            </a:r>
            <a:endParaRPr lang="en-US" altLang="en-GB">
              <a:sym typeface="+mn-ea"/>
            </a:endParaRPr>
          </a:p>
          <a:p>
            <a:r>
              <a:rPr lang="en-US" altLang="en-GB">
                <a:sym typeface="+mn-ea"/>
              </a:rPr>
              <a:t>&lt;h1&gt; - Main heading ( For sub headings--&lt;h2&gt;, &lt;h3&gt;, &lt;h4&gt;, &lt;h5&gt;, &lt;h6&gt;)</a:t>
            </a:r>
            <a:endParaRPr lang="en-US" altLang="en-GB">
              <a:sym typeface="+mn-ea"/>
            </a:endParaRPr>
          </a:p>
          <a:p>
            <a:r>
              <a:rPr lang="en-US" altLang="en-GB">
                <a:sym typeface="+mn-ea"/>
              </a:rPr>
              <a:t>&lt;p&gt; - </a:t>
            </a:r>
            <a:r>
              <a:rPr lang="en-US" altLang="en-GB">
                <a:sym typeface="+mn-ea"/>
              </a:rPr>
              <a:t>Paragraph </a:t>
            </a:r>
            <a:endParaRPr lang="en-US" altLang="en-GB">
              <a:sym typeface="+mn-ea"/>
            </a:endParaRPr>
          </a:p>
          <a:p>
            <a:pPr marL="0" indent="0">
              <a:buNone/>
            </a:pPr>
            <a:endParaRPr lang="en-US" altLang="en-GB"/>
          </a:p>
          <a:p>
            <a:endParaRPr lang="en-US" alt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8910"/>
            <a:ext cx="10515600" cy="868680"/>
          </a:xfrm>
        </p:spPr>
        <p:txBody>
          <a:bodyPr/>
          <a:p>
            <a:r>
              <a:rPr lang="en-US" altLang="en-GB" b="1"/>
              <a:t>Text &amp; Formatting Tags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3450"/>
            <a:ext cx="10515600" cy="5822950"/>
          </a:xfrm>
        </p:spPr>
        <p:txBody>
          <a:bodyPr/>
          <a:p>
            <a:r>
              <a:rPr lang="en-US" altLang="en-GB" sz="2600"/>
              <a:t>&lt;br&gt; - Line break</a:t>
            </a:r>
            <a:endParaRPr lang="en-US" altLang="en-GB" sz="2600"/>
          </a:p>
          <a:p>
            <a:r>
              <a:rPr lang="en-US" altLang="en-GB" sz="2600"/>
              <a:t>&lt;hr&gt; - Horizontal line</a:t>
            </a:r>
            <a:endParaRPr lang="en-US" altLang="en-GB" sz="2600"/>
          </a:p>
          <a:p>
            <a:r>
              <a:rPr lang="en-US" altLang="en-GB" sz="2600"/>
              <a:t>&lt;strong&gt; - Bold (important text)</a:t>
            </a:r>
            <a:endParaRPr lang="en-US" altLang="en-GB" sz="2600"/>
          </a:p>
          <a:p>
            <a:r>
              <a:rPr lang="en-US" altLang="en-GB" sz="2600"/>
              <a:t>&lt;b&gt; -Bold (visual only)</a:t>
            </a:r>
            <a:endParaRPr lang="en-US" altLang="en-GB" sz="2600"/>
          </a:p>
          <a:p>
            <a:r>
              <a:rPr lang="en-US" altLang="en-GB" sz="2600"/>
              <a:t>&lt;em&gt; - Emphasis (Italic)</a:t>
            </a:r>
            <a:endParaRPr lang="en-US" altLang="en-GB" sz="2600"/>
          </a:p>
          <a:p>
            <a:r>
              <a:rPr lang="en-US" altLang="en-GB" sz="2600"/>
              <a:t>&lt;i&gt; - Italic (visual only)</a:t>
            </a:r>
            <a:endParaRPr lang="en-US" altLang="en-GB" sz="2600"/>
          </a:p>
          <a:p>
            <a:r>
              <a:rPr lang="en-US" altLang="en-GB" sz="2600"/>
              <a:t>&lt;mark&gt; - Highlight text</a:t>
            </a:r>
            <a:endParaRPr lang="en-US" altLang="en-GB" sz="2600"/>
          </a:p>
          <a:p>
            <a:r>
              <a:rPr lang="en-US" altLang="en-GB" sz="2600"/>
              <a:t>&lt;small&gt; - Smaller text</a:t>
            </a:r>
            <a:endParaRPr lang="en-US" altLang="en-GB" sz="2600"/>
          </a:p>
          <a:p>
            <a:r>
              <a:rPr lang="en-US" altLang="en-GB" sz="2600"/>
              <a:t>&lt;sub&gt; - Subscript (H</a:t>
            </a:r>
            <a:r>
              <a:rPr lang="en-US" altLang="en-GB" sz="2600" baseline="-25000"/>
              <a:t>2</a:t>
            </a:r>
            <a:r>
              <a:rPr lang="en-US" altLang="en-GB" sz="2600"/>
              <a:t>O)</a:t>
            </a:r>
            <a:endParaRPr lang="en-US" altLang="en-GB" sz="2600"/>
          </a:p>
          <a:p>
            <a:r>
              <a:rPr lang="en-US" altLang="en-GB" sz="2600"/>
              <a:t>&lt;sup&gt; - Superscript (x</a:t>
            </a:r>
            <a:r>
              <a:rPr lang="en-US" altLang="en-GB" sz="2600" baseline="30000"/>
              <a:t>2</a:t>
            </a:r>
            <a:r>
              <a:rPr lang="en-US" altLang="en-GB" sz="2600"/>
              <a:t>)</a:t>
            </a:r>
            <a:endParaRPr lang="en-US" altLang="en-GB" sz="2600"/>
          </a:p>
          <a:p>
            <a:r>
              <a:rPr lang="en-US" altLang="en-GB" sz="2600"/>
              <a:t>&lt;del&gt; - Delete</a:t>
            </a:r>
            <a:endParaRPr lang="en-US" altLang="en-GB" sz="2600"/>
          </a:p>
          <a:p>
            <a:r>
              <a:rPr lang="en-US" altLang="en-GB" sz="2600"/>
              <a:t>&lt;s&gt; - Strikethrough</a:t>
            </a:r>
            <a:endParaRPr lang="en-US" altLang="en-GB" sz="2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92125"/>
            <a:ext cx="10515600" cy="920750"/>
          </a:xfrm>
        </p:spPr>
        <p:txBody>
          <a:bodyPr/>
          <a:p>
            <a:r>
              <a:rPr lang="en-US" altLang="en-GB" b="1"/>
              <a:t>Special Characters</a:t>
            </a:r>
            <a:endParaRPr lang="en-US" altLang="en-GB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072515" y="1527810"/>
          <a:ext cx="6576060" cy="4820920"/>
        </p:xfrm>
        <a:graphic>
          <a:graphicData uri="http://schemas.openxmlformats.org/drawingml/2006/table">
            <a:tbl>
              <a:tblPr/>
              <a:tblGrid>
                <a:gridCol w="2192020"/>
                <a:gridCol w="2192020"/>
                <a:gridCol w="2192020"/>
              </a:tblGrid>
              <a:tr h="645160">
                <a:tc>
                  <a:txBody>
                    <a:bodyPr/>
                    <a:p>
                      <a:r>
                        <a:rPr sz="2800"/>
                        <a:t>Character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800"/>
                        <a:t>Entity Name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800"/>
                        <a:t>Entity Code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480695">
                <a:tc>
                  <a:txBody>
                    <a:bodyPr/>
                    <a:p>
                      <a:r>
                        <a:rPr sz="2800"/>
                        <a:t>&lt;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/>
                        <a:t>&amp;lt;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/>
                        <a:t>Less Than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45160">
                <a:tc>
                  <a:txBody>
                    <a:bodyPr/>
                    <a:p>
                      <a:r>
                        <a:rPr sz="2800"/>
                        <a:t>&gt;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/>
                        <a:t>&amp;gt;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/>
                        <a:t>Greater Than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0695">
                <a:tc>
                  <a:txBody>
                    <a:bodyPr/>
                    <a:p>
                      <a:r>
                        <a:rPr sz="2800"/>
                        <a:t>&amp;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/>
                        <a:t>&amp;amp;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/>
                        <a:t>Ampersand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45795">
                <a:tc>
                  <a:txBody>
                    <a:bodyPr/>
                    <a:p>
                      <a:r>
                        <a:rPr sz="2800"/>
                        <a:t>"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/>
                        <a:t>&amp;quot;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/>
                        <a:t>Double Quote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0695">
                <a:tc>
                  <a:txBody>
                    <a:bodyPr/>
                    <a:p>
                      <a:r>
                        <a:rPr sz="2800"/>
                        <a:t>©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/>
                        <a:t>&amp;copy;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/>
                        <a:t>Copyright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0695">
                <a:tc>
                  <a:txBody>
                    <a:bodyPr/>
                    <a:p>
                      <a:r>
                        <a:rPr sz="2800"/>
                        <a:t>®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/>
                        <a:t>&amp;reg;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/>
                        <a:t>Registered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0695">
                <a:tc>
                  <a:txBody>
                    <a:bodyPr/>
                    <a:p>
                      <a:r>
                        <a:rPr sz="2800"/>
                        <a:t>₦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/>
                        <a:t>&amp;#8358;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/>
                        <a:t>Naira Sign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1330">
                <a:tc>
                  <a:txBody>
                    <a:bodyPr/>
                    <a:p>
                      <a:r>
                        <a:rPr sz="2800"/>
                        <a:t>€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/>
                        <a:t>&amp;euro;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/>
                        <a:t>Euro Sign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5020"/>
          </a:xfrm>
        </p:spPr>
        <p:txBody>
          <a:bodyPr/>
          <a:p>
            <a:r>
              <a:rPr lang="en-US" altLang="en-GB" b="1"/>
              <a:t>Block Quote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60145"/>
            <a:ext cx="10515600" cy="5017135"/>
          </a:xfrm>
        </p:spPr>
        <p:txBody>
          <a:bodyPr/>
          <a:p>
            <a:pPr marL="0" indent="0">
              <a:buNone/>
            </a:pPr>
            <a:r>
              <a:rPr lang="en-US" altLang="en-GB" b="1"/>
              <a:t>What is a Block Quote?</a:t>
            </a:r>
            <a:endParaRPr lang="en-US" altLang="en-GB" b="1"/>
          </a:p>
          <a:p>
            <a:pPr marL="0" indent="0">
              <a:buNone/>
            </a:pPr>
            <a:r>
              <a:rPr lang="en-US" altLang="en-GB"/>
              <a:t>A block quote is used to display a long quotation from another source.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The &lt;blockquote&gt; tag is used for that purpose</a:t>
            </a:r>
            <a:endParaRPr lang="en-US" altLang="en-GB"/>
          </a:p>
          <a:p>
            <a:pPr marL="0" indent="0">
              <a:buNone/>
            </a:pPr>
            <a:endParaRPr lang="en-US" altLang="en-GB"/>
          </a:p>
          <a:p>
            <a:pPr marL="0" indent="0">
              <a:buNone/>
            </a:pPr>
            <a:r>
              <a:rPr lang="en-US" altLang="en-GB" b="1"/>
              <a:t>Example: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&lt;blockquote cite=“https://www.eurokidsindia.com”&gt;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	Education is the most powerful weapon which you can use to change the world.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&lt;/blockquote&gt;</a:t>
            </a:r>
            <a:endParaRPr lang="en-US" altLang="en-GB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3200"/>
            <a:ext cx="10515600" cy="933450"/>
          </a:xfrm>
        </p:spPr>
        <p:txBody>
          <a:bodyPr/>
          <a:p>
            <a:r>
              <a:rPr lang="en-US" altLang="en-GB" b="1"/>
              <a:t>Comment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99490"/>
            <a:ext cx="10515600" cy="5627370"/>
          </a:xfrm>
        </p:spPr>
        <p:txBody>
          <a:bodyPr>
            <a:normAutofit fontScale="90000" lnSpcReduction="10000"/>
          </a:bodyPr>
          <a:p>
            <a:pPr marL="0" indent="0">
              <a:buNone/>
            </a:pPr>
            <a:r>
              <a:rPr lang="en-US" altLang="en-GB"/>
              <a:t>Comments are notes added to HTML code that are not displayed in the browser. They are used to explain code, leave reminders, or temporarily disable code.</a:t>
            </a:r>
            <a:endParaRPr lang="en-US" altLang="en-GB"/>
          </a:p>
          <a:p>
            <a:pPr marL="0" indent="0">
              <a:buNone/>
            </a:pPr>
            <a:endParaRPr lang="en-US" altLang="en-GB"/>
          </a:p>
          <a:p>
            <a:pPr marL="0" indent="0">
              <a:buNone/>
            </a:pPr>
            <a:r>
              <a:rPr lang="en-US" altLang="en-GB" b="1"/>
              <a:t>Syntax:</a:t>
            </a:r>
            <a:endParaRPr lang="en-US" altLang="en-GB" b="1"/>
          </a:p>
          <a:p>
            <a:pPr marL="0" indent="0">
              <a:buNone/>
            </a:pPr>
            <a:r>
              <a:rPr lang="en-US" altLang="en-GB"/>
              <a:t>Single line comment:</a:t>
            </a:r>
            <a:endParaRPr lang="en-US" altLang="en-GB" b="1"/>
          </a:p>
          <a:p>
            <a:pPr marL="0" indent="0">
              <a:buNone/>
            </a:pPr>
            <a:r>
              <a:rPr lang="en-US" altLang="en-GB"/>
              <a:t>&lt;!-- This is a comment --&gt;</a:t>
            </a:r>
            <a:endParaRPr lang="en-US" altLang="en-GB"/>
          </a:p>
          <a:p>
            <a:pPr marL="0" indent="0">
              <a:buNone/>
            </a:pPr>
            <a:endParaRPr lang="en-US" altLang="en-GB"/>
          </a:p>
          <a:p>
            <a:pPr marL="0" indent="0">
              <a:buNone/>
            </a:pPr>
            <a:r>
              <a:rPr lang="en-US" altLang="en-GB"/>
              <a:t>Multi-line comment: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&lt;!--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This is a multi-line comment.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It can span multiple lines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It is useful for explaining sections of code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--&gt;</a:t>
            </a:r>
            <a:endParaRPr lang="en-US" altLang="en-GB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96900"/>
            <a:ext cx="10515600" cy="1325563"/>
          </a:xfrm>
        </p:spPr>
        <p:txBody>
          <a:bodyPr/>
          <a:p>
            <a:r>
              <a:rPr lang="en-US" altLang="en-GB" b="1"/>
              <a:t>List Tags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98980"/>
            <a:ext cx="10515600" cy="3628390"/>
          </a:xfrm>
        </p:spPr>
        <p:txBody>
          <a:bodyPr/>
          <a:p>
            <a:r>
              <a:rPr lang="en-US" altLang="en-GB"/>
              <a:t>&lt;ol&gt; - Ordered list (numbers)</a:t>
            </a:r>
            <a:endParaRPr lang="en-US" altLang="en-GB"/>
          </a:p>
          <a:p>
            <a:r>
              <a:rPr lang="en-US" altLang="en-GB">
                <a:sym typeface="+mn-ea"/>
              </a:rPr>
              <a:t>&lt;ul&gt; - Unordered list (bullets)</a:t>
            </a:r>
            <a:endParaRPr lang="en-US" altLang="en-GB"/>
          </a:p>
          <a:p>
            <a:r>
              <a:rPr lang="en-US" altLang="en-GB"/>
              <a:t>&lt;li&gt; - List item</a:t>
            </a:r>
            <a:endParaRPr lang="en-US" altLang="en-GB"/>
          </a:p>
          <a:p>
            <a:r>
              <a:rPr lang="en-US" altLang="en-GB"/>
              <a:t>&lt;dl&gt; - Description list</a:t>
            </a:r>
            <a:endParaRPr lang="en-US" altLang="en-GB"/>
          </a:p>
          <a:p>
            <a:r>
              <a:rPr lang="en-US" altLang="en-GB"/>
              <a:t>&lt;dt&gt; - Term</a:t>
            </a:r>
            <a:endParaRPr lang="en-US" altLang="en-GB"/>
          </a:p>
          <a:p>
            <a:r>
              <a:rPr lang="en-US" altLang="en-GB"/>
              <a:t>&lt;dd&gt; - Description</a:t>
            </a:r>
            <a:endParaRPr lang="en-US" altLang="en-GB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/>
              <a:t>Ordered List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13300"/>
          </a:xfrm>
        </p:spPr>
        <p:txBody>
          <a:bodyPr/>
          <a:p>
            <a:pPr marL="0" indent="0">
              <a:buNone/>
            </a:pPr>
            <a:r>
              <a:rPr lang="en-US" altLang="en-GB"/>
              <a:t>An ordered list is a list where items are arranged in a specific order (numbered).</a:t>
            </a:r>
            <a:endParaRPr lang="en-US" altLang="en-GB"/>
          </a:p>
          <a:p>
            <a:pPr marL="0" indent="0">
              <a:buNone/>
            </a:pPr>
            <a:endParaRPr lang="en-US" altLang="en-GB"/>
          </a:p>
          <a:p>
            <a:pPr marL="0" indent="0">
              <a:buNone/>
            </a:pPr>
            <a:r>
              <a:rPr lang="en-US" altLang="en-GB" b="1"/>
              <a:t>Syntax:</a:t>
            </a:r>
            <a:endParaRPr lang="en-US" altLang="en-GB" b="1"/>
          </a:p>
          <a:p>
            <a:pPr marL="0" indent="0">
              <a:buNone/>
            </a:pPr>
            <a:r>
              <a:rPr lang="en-US" altLang="en-GB"/>
              <a:t>&lt;ol&gt;</a:t>
            </a:r>
            <a:endParaRPr lang="en-US" altLang="en-GB"/>
          </a:p>
          <a:p>
            <a:pPr marL="0" indent="457200">
              <a:buNone/>
            </a:pPr>
            <a:r>
              <a:rPr lang="en-US" altLang="en-GB"/>
              <a:t>&lt;li&gt;Item 1&lt;/li&gt;</a:t>
            </a:r>
            <a:endParaRPr lang="en-US" altLang="en-GB"/>
          </a:p>
          <a:p>
            <a:pPr marL="0" indent="457200">
              <a:buNone/>
            </a:pPr>
            <a:r>
              <a:rPr lang="en-US" altLang="en-GB">
                <a:sym typeface="+mn-ea"/>
              </a:rPr>
              <a:t>&lt;li&gt;Item 2&lt;/li&gt;</a:t>
            </a:r>
            <a:endParaRPr lang="en-US" altLang="en-GB">
              <a:sym typeface="+mn-ea"/>
            </a:endParaRPr>
          </a:p>
          <a:p>
            <a:pPr marL="0" indent="457200">
              <a:buNone/>
            </a:pPr>
            <a:r>
              <a:rPr lang="en-US" altLang="en-GB">
                <a:sym typeface="+mn-ea"/>
              </a:rPr>
              <a:t>&lt;li&gt;Item 3&lt;/li&gt;</a:t>
            </a:r>
            <a:endParaRPr lang="en-US" altLang="en-GB">
              <a:sym typeface="+mn-ea"/>
            </a:endParaRPr>
          </a:p>
          <a:p>
            <a:pPr marL="0" lvl="0" indent="0">
              <a:buNone/>
            </a:pPr>
            <a:r>
              <a:rPr lang="en-US" altLang="en-GB"/>
              <a:t>&lt;/ol&gt;</a:t>
            </a:r>
            <a:endParaRPr lang="en-US" altLang="en-GB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/>
              <a:t>Unordered List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/>
              <a:t>An unordered list displays items with bullets instead of numbers.</a:t>
            </a:r>
            <a:endParaRPr lang="en-US" altLang="en-GB"/>
          </a:p>
          <a:p>
            <a:pPr marL="0" indent="0">
              <a:buNone/>
            </a:pPr>
            <a:endParaRPr lang="en-US" altLang="en-GB"/>
          </a:p>
          <a:p>
            <a:pPr marL="0" indent="0">
              <a:buNone/>
            </a:pPr>
            <a:r>
              <a:rPr lang="en-US" altLang="en-GB" b="1"/>
              <a:t>Syntax: </a:t>
            </a:r>
            <a:endParaRPr lang="en-US" altLang="en-GB" b="1"/>
          </a:p>
          <a:p>
            <a:pPr marL="0" indent="0">
              <a:buNone/>
            </a:pPr>
            <a:r>
              <a:rPr lang="en-US" altLang="en-GB"/>
              <a:t>&lt;ul&gt;</a:t>
            </a:r>
            <a:endParaRPr lang="en-US" altLang="en-GB"/>
          </a:p>
          <a:p>
            <a:pPr marL="0" indent="457200">
              <a:buNone/>
            </a:pPr>
            <a:r>
              <a:rPr lang="en-US" altLang="en-GB">
                <a:sym typeface="+mn-ea"/>
              </a:rPr>
              <a:t>&lt;li&gt;Item 1&lt;/li&gt;</a:t>
            </a:r>
            <a:endParaRPr lang="en-US" altLang="en-GB">
              <a:sym typeface="+mn-ea"/>
            </a:endParaRPr>
          </a:p>
          <a:p>
            <a:pPr marL="0" indent="457200">
              <a:buNone/>
            </a:pPr>
            <a:r>
              <a:rPr lang="en-US" altLang="en-GB">
                <a:sym typeface="+mn-ea"/>
              </a:rPr>
              <a:t>&lt;li&gt;Item 2&lt;/li&gt;</a:t>
            </a:r>
            <a:endParaRPr lang="en-US" altLang="en-GB">
              <a:sym typeface="+mn-ea"/>
            </a:endParaRPr>
          </a:p>
          <a:p>
            <a:pPr marL="0" indent="457200">
              <a:buNone/>
            </a:pPr>
            <a:r>
              <a:rPr lang="en-US" altLang="en-GB">
                <a:sym typeface="+mn-ea"/>
              </a:rPr>
              <a:t>&lt;li&gt;Item 3&lt;/li&gt;</a:t>
            </a:r>
            <a:endParaRPr lang="en-US" altLang="en-GB">
              <a:sym typeface="+mn-ea"/>
            </a:endParaRPr>
          </a:p>
          <a:p>
            <a:pPr marL="0" indent="0">
              <a:buNone/>
            </a:pPr>
            <a:r>
              <a:rPr lang="en-US" altLang="en-GB"/>
              <a:t>&lt;/ul&gt;</a:t>
            </a:r>
            <a:endParaRPr lang="en-US" altLang="en-GB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4235"/>
          </a:xfrm>
        </p:spPr>
        <p:txBody>
          <a:bodyPr/>
          <a:p>
            <a:r>
              <a:rPr lang="en-US" altLang="en-GB" b="1"/>
              <a:t>Definition List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29360"/>
            <a:ext cx="10515600" cy="5375275"/>
          </a:xfrm>
        </p:spPr>
        <p:txBody>
          <a:bodyPr/>
          <a:p>
            <a:pPr marL="0" indent="0">
              <a:buNone/>
            </a:pPr>
            <a:r>
              <a:rPr lang="en-US" altLang="en-GB"/>
              <a:t>A definition list is used to display terms and their meanings.</a:t>
            </a:r>
            <a:endParaRPr lang="en-US" altLang="en-GB"/>
          </a:p>
          <a:p>
            <a:pPr marL="0" indent="0">
              <a:buNone/>
            </a:pPr>
            <a:endParaRPr lang="en-US" altLang="en-GB"/>
          </a:p>
          <a:p>
            <a:pPr marL="0" indent="0">
              <a:buNone/>
            </a:pPr>
            <a:r>
              <a:rPr lang="en-US" altLang="en-GB" b="1"/>
              <a:t>Syntax:</a:t>
            </a:r>
            <a:endParaRPr lang="en-US" altLang="en-GB" b="1"/>
          </a:p>
          <a:p>
            <a:pPr marL="0" indent="0">
              <a:buNone/>
            </a:pPr>
            <a:r>
              <a:rPr lang="en-US" altLang="en-GB"/>
              <a:t>&lt;dl&gt;</a:t>
            </a:r>
            <a:endParaRPr lang="en-US" altLang="en-GB"/>
          </a:p>
          <a:p>
            <a:pPr marL="0" indent="457200">
              <a:buNone/>
            </a:pPr>
            <a:r>
              <a:rPr lang="en-US" altLang="en-GB"/>
              <a:t>&lt;dt&gt;HTML&lt;/dt&gt;</a:t>
            </a:r>
            <a:endParaRPr lang="en-US" altLang="en-GB"/>
          </a:p>
          <a:p>
            <a:pPr marL="0" indent="457200">
              <a:buNone/>
            </a:pPr>
            <a:r>
              <a:rPr lang="en-US" altLang="en-GB"/>
              <a:t>&lt;dd&gt;HyperText Markup Language&lt;/dd&gt;</a:t>
            </a:r>
            <a:endParaRPr lang="en-US" altLang="en-GB"/>
          </a:p>
          <a:p>
            <a:pPr marL="0" indent="457200">
              <a:buNone/>
            </a:pPr>
            <a:endParaRPr lang="en-US" altLang="en-GB"/>
          </a:p>
          <a:p>
            <a:pPr marL="0" indent="457200">
              <a:buNone/>
            </a:pPr>
            <a:r>
              <a:rPr lang="en-US" altLang="en-GB"/>
              <a:t>&lt;dt&gt;CSS&lt;/dt&gt;</a:t>
            </a:r>
            <a:endParaRPr lang="en-US" altLang="en-GB"/>
          </a:p>
          <a:p>
            <a:pPr marL="0" indent="457200">
              <a:buNone/>
            </a:pPr>
            <a:r>
              <a:rPr lang="en-US" altLang="en-GB"/>
              <a:t>&lt;dd&gt;Cascading Style Sheets&lt;/dd&gt;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&lt;/dl&gt;</a:t>
            </a:r>
            <a:endParaRPr lang="en-US" altLang="en-GB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3630" y="745490"/>
            <a:ext cx="9984105" cy="1325880"/>
          </a:xfrm>
        </p:spPr>
        <p:txBody>
          <a:bodyPr/>
          <a:p>
            <a:r>
              <a:rPr lang="en-US" altLang="en-GB" b="1">
                <a:cs typeface="+mj-lt"/>
              </a:rPr>
              <a:t>Images</a:t>
            </a:r>
            <a:endParaRPr lang="en-US" altLang="en-GB" b="1">
              <a:cs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75205"/>
            <a:ext cx="10515600" cy="3902075"/>
          </a:xfrm>
        </p:spPr>
        <p:txBody>
          <a:bodyPr/>
          <a:p>
            <a:r>
              <a:rPr lang="en-US" altLang="en-GB" sz="3200"/>
              <a:t>Using images</a:t>
            </a:r>
            <a:endParaRPr lang="en-US" altLang="en-GB" sz="3200"/>
          </a:p>
          <a:p>
            <a:r>
              <a:rPr lang="en-US" altLang="en-GB" sz="3200"/>
              <a:t>Get images</a:t>
            </a:r>
            <a:endParaRPr lang="en-US" altLang="en-GB" sz="3200"/>
          </a:p>
          <a:p>
            <a:r>
              <a:rPr lang="en-US" altLang="en-GB" sz="3200"/>
              <a:t>Image considerations</a:t>
            </a:r>
            <a:endParaRPr lang="en-US" altLang="en-GB" sz="3200"/>
          </a:p>
          <a:p>
            <a:r>
              <a:rPr lang="en-US" altLang="en-GB" sz="3200"/>
              <a:t>Types of images</a:t>
            </a:r>
            <a:endParaRPr lang="en-US" altLang="en-GB" sz="3200"/>
          </a:p>
          <a:p>
            <a:r>
              <a:rPr lang="en-US" altLang="en-GB" sz="3200"/>
              <a:t>Add an image</a:t>
            </a:r>
            <a:endParaRPr lang="en-US" altLang="en-GB" sz="32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61695"/>
            <a:ext cx="10515600" cy="1325563"/>
          </a:xfrm>
        </p:spPr>
        <p:txBody>
          <a:bodyPr/>
          <a:p>
            <a:r>
              <a:rPr lang="en-US" altLang="en-GB" b="1"/>
              <a:t>Using Images in HTML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52700"/>
            <a:ext cx="10515600" cy="3624580"/>
          </a:xfrm>
        </p:spPr>
        <p:txBody>
          <a:bodyPr/>
          <a:p>
            <a:r>
              <a:rPr lang="en-US" altLang="en-GB"/>
              <a:t>Images make webpages more attractive and interactive</a:t>
            </a:r>
            <a:endParaRPr lang="en-US" altLang="en-GB"/>
          </a:p>
          <a:p>
            <a:r>
              <a:rPr lang="en-US" altLang="en-GB"/>
              <a:t>They help explain and support content visually</a:t>
            </a:r>
            <a:endParaRPr lang="en-US" altLang="en-GB"/>
          </a:p>
          <a:p>
            <a:r>
              <a:rPr lang="en-US" altLang="en-GB"/>
              <a:t>HTML uses the &lt;img&gt; tag to display images</a:t>
            </a:r>
            <a:endParaRPr lang="en-US" altLang="en-GB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0450"/>
          </a:xfrm>
        </p:spPr>
        <p:txBody>
          <a:bodyPr/>
          <a:p>
            <a:r>
              <a:rPr lang="en-US" altLang="en-GB" b="1"/>
              <a:t>Getting Images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/>
              <a:t>You can get images from:</a:t>
            </a:r>
            <a:endParaRPr lang="en-US" altLang="en-GB"/>
          </a:p>
          <a:p>
            <a:r>
              <a:rPr lang="en-US" altLang="en-GB"/>
              <a:t>Local storage</a:t>
            </a:r>
            <a:endParaRPr lang="en-US" altLang="en-GB"/>
          </a:p>
          <a:p>
            <a:r>
              <a:rPr lang="en-US" altLang="en-GB"/>
              <a:t>Online sources (Google, image websites)</a:t>
            </a:r>
            <a:endParaRPr lang="en-US" altLang="en-GB"/>
          </a:p>
          <a:p>
            <a:pPr marL="0" indent="0">
              <a:buNone/>
            </a:pPr>
            <a:endParaRPr lang="en-US" altLang="en-GB"/>
          </a:p>
          <a:p>
            <a:pPr marL="0" indent="0">
              <a:buNone/>
            </a:pPr>
            <a:r>
              <a:rPr lang="en-US" altLang="en-GB"/>
              <a:t>Free images websites:</a:t>
            </a:r>
            <a:endParaRPr lang="en-US" altLang="en-GB"/>
          </a:p>
          <a:p>
            <a:r>
              <a:rPr lang="en-US" altLang="en-GB"/>
              <a:t>Unsplash</a:t>
            </a:r>
            <a:endParaRPr lang="en-US" altLang="en-GB"/>
          </a:p>
          <a:p>
            <a:r>
              <a:rPr lang="en-US" altLang="en-GB"/>
              <a:t>Pexels</a:t>
            </a:r>
            <a:endParaRPr lang="en-US" altLang="en-GB"/>
          </a:p>
          <a:p>
            <a:r>
              <a:rPr lang="en-US" altLang="en-GB"/>
              <a:t>Pixabay</a:t>
            </a:r>
            <a:endParaRPr lang="en-US" altLang="en-GB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4095"/>
          </a:xfrm>
        </p:spPr>
        <p:txBody>
          <a:bodyPr/>
          <a:p>
            <a:r>
              <a:rPr lang="en-US" altLang="en-GB" b="1"/>
              <a:t>Image Considerations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/>
              <a:t>When using images, you should consider:</a:t>
            </a:r>
            <a:endParaRPr lang="en-US" altLang="en-GB"/>
          </a:p>
          <a:p>
            <a:r>
              <a:rPr lang="en-US" altLang="en-GB"/>
              <a:t>Image size (not too large)</a:t>
            </a:r>
            <a:endParaRPr lang="en-US" altLang="en-GB"/>
          </a:p>
          <a:p>
            <a:r>
              <a:rPr lang="en-US" altLang="en-GB"/>
              <a:t>File format (JPG, PNG, GIF)</a:t>
            </a:r>
            <a:endParaRPr lang="en-US" altLang="en-GB"/>
          </a:p>
          <a:p>
            <a:r>
              <a:rPr lang="en-US" altLang="en-GB"/>
              <a:t>Image quality (clear and sharp)</a:t>
            </a:r>
            <a:endParaRPr lang="en-US" altLang="en-GB"/>
          </a:p>
          <a:p>
            <a:r>
              <a:rPr lang="en-US" altLang="en-GB"/>
              <a:t>Copyright permission</a:t>
            </a:r>
            <a:endParaRPr lang="en-US" altLang="en-GB"/>
          </a:p>
          <a:p>
            <a:r>
              <a:rPr lang="en-US" altLang="en-GB"/>
              <a:t>Loading speed of webpage</a:t>
            </a:r>
            <a:endParaRPr lang="en-US" altLang="en-GB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/>
              <a:t>Types of Images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/>
              <a:t>Common images formats include:</a:t>
            </a:r>
            <a:endParaRPr lang="en-US" altLang="en-GB"/>
          </a:p>
          <a:p>
            <a:r>
              <a:rPr lang="en-US" altLang="en-GB"/>
              <a:t>JPG/JPEG - Good for photos</a:t>
            </a:r>
            <a:endParaRPr lang="en-US" altLang="en-GB"/>
          </a:p>
          <a:p>
            <a:r>
              <a:rPr lang="en-US" altLang="en-GB"/>
              <a:t>PNG - Supports transparent backgrounds</a:t>
            </a:r>
            <a:endParaRPr lang="en-US" altLang="en-GB"/>
          </a:p>
          <a:p>
            <a:r>
              <a:rPr lang="en-US" altLang="en-GB"/>
              <a:t>GIF - Supports animations</a:t>
            </a:r>
            <a:endParaRPr lang="en-US" altLang="en-GB"/>
          </a:p>
          <a:p>
            <a:r>
              <a:rPr lang="en-US" altLang="en-GB"/>
              <a:t>SVG - Scalable vector graphics</a:t>
            </a:r>
            <a:endParaRPr lang="en-US" altLang="en-GB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2020"/>
          </a:xfrm>
        </p:spPr>
        <p:txBody>
          <a:bodyPr/>
          <a:p>
            <a:r>
              <a:rPr lang="en-US" altLang="en-GB" b="1"/>
              <a:t>Adding an Image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87145"/>
            <a:ext cx="10515600" cy="537400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GB"/>
              <a:t>Adding an image in HTML</a:t>
            </a:r>
            <a:endParaRPr lang="en-US" altLang="en-GB"/>
          </a:p>
          <a:p>
            <a:r>
              <a:rPr lang="en-US" altLang="en-GB"/>
              <a:t>HTML uses the &lt;img&gt; tag</a:t>
            </a:r>
            <a:endParaRPr lang="en-US" altLang="en-GB"/>
          </a:p>
          <a:p>
            <a:r>
              <a:rPr lang="en-US" altLang="en-GB"/>
              <a:t>It does not need a closing tag</a:t>
            </a:r>
            <a:endParaRPr lang="en-US" altLang="en-GB"/>
          </a:p>
          <a:p>
            <a:endParaRPr lang="en-US" altLang="en-GB"/>
          </a:p>
          <a:p>
            <a:pPr marL="0" indent="0">
              <a:buNone/>
            </a:pPr>
            <a:r>
              <a:rPr lang="en-US" altLang="en-GB" b="1"/>
              <a:t>Syntax:</a:t>
            </a:r>
            <a:endParaRPr lang="en-US" altLang="en-GB" b="1"/>
          </a:p>
          <a:p>
            <a:pPr marL="0" indent="0">
              <a:buNone/>
            </a:pPr>
            <a:r>
              <a:rPr lang="en-US" altLang="en-GB"/>
              <a:t>&lt;img src=”image.jpg” alt=”Description of image”&gt;</a:t>
            </a:r>
            <a:endParaRPr lang="en-US" altLang="en-GB"/>
          </a:p>
          <a:p>
            <a:pPr marL="0" indent="0">
              <a:buNone/>
            </a:pPr>
            <a:r>
              <a:rPr lang="en-US" altLang="en-GB">
                <a:sym typeface="+mn-ea"/>
              </a:rPr>
              <a:t>&lt;img src=”https://example.com/image.jpg” alt=”Description of image”&gt;</a:t>
            </a:r>
            <a:endParaRPr lang="en-US" altLang="en-GB">
              <a:sym typeface="+mn-ea"/>
            </a:endParaRPr>
          </a:p>
          <a:p>
            <a:pPr marL="0" indent="0">
              <a:buNone/>
            </a:pPr>
            <a:endParaRPr lang="en-US" altLang="en-GB"/>
          </a:p>
          <a:p>
            <a:pPr marL="0" indent="0">
              <a:buNone/>
            </a:pPr>
            <a:r>
              <a:rPr lang="en-US" altLang="en-GB"/>
              <a:t>src - path or location of image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alt - althernative text if image fails to load</a:t>
            </a:r>
            <a:endParaRPr lang="en-US" altLang="en-GB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40" y="226695"/>
            <a:ext cx="10515600" cy="725805"/>
          </a:xfrm>
        </p:spPr>
        <p:txBody>
          <a:bodyPr>
            <a:normAutofit fontScale="90000"/>
          </a:bodyPr>
          <a:p>
            <a:r>
              <a:rPr lang="en-US" altLang="en-GB" b="1"/>
              <a:t>Attributes</a:t>
            </a:r>
            <a:endParaRPr lang="en-US" altLang="en-GB" b="1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853440" y="1910080"/>
          <a:ext cx="9113520" cy="4762500"/>
        </p:xfrm>
        <a:graphic>
          <a:graphicData uri="http://schemas.openxmlformats.org/drawingml/2006/table">
            <a:tbl>
              <a:tblPr/>
              <a:tblGrid>
                <a:gridCol w="4556760"/>
                <a:gridCol w="4556760"/>
              </a:tblGrid>
              <a:tr h="601345">
                <a:tc>
                  <a:txBody>
                    <a:bodyPr/>
                    <a:p>
                      <a:r>
                        <a:rPr sz="2400"/>
                        <a:t>Attribute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400"/>
                        <a:t>Purpose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819150">
                <a:tc>
                  <a:txBody>
                    <a:bodyPr/>
                    <a:p>
                      <a:r>
                        <a:rPr sz="2400"/>
                        <a:t>id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/>
                        <a:t>Unique element identification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02310">
                <a:tc>
                  <a:txBody>
                    <a:bodyPr/>
                    <a:p>
                      <a:r>
                        <a:rPr sz="2400"/>
                        <a:t>class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/>
                        <a:t>Group elements together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0710">
                <a:tc>
                  <a:txBody>
                    <a:bodyPr/>
                    <a:p>
                      <a:r>
                        <a:rPr sz="2400"/>
                        <a:t>href</a:t>
                      </a:r>
                      <a:r>
                        <a:rPr sz="2400"/>
                        <a:t> (anchor)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/>
                        <a:t>Create links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35330">
                <a:tc>
                  <a:txBody>
                    <a:bodyPr/>
                    <a:p>
                      <a:r>
                        <a:rPr lang="en-US" sz="2400"/>
                        <a:t>m</a:t>
                      </a:r>
                      <a:r>
                        <a:rPr sz="2400"/>
                        <a:t>ethod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/>
                        <a:t>Define form data sending method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1980">
                <a:tc>
                  <a:txBody>
                    <a:bodyPr/>
                    <a:p>
                      <a:r>
                        <a:rPr sz="2400"/>
                        <a:t>title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/>
                        <a:t>Tooltip text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01675">
                <a:tc>
                  <a:txBody>
                    <a:bodyPr/>
                    <a:p>
                      <a:r>
                        <a:rPr sz="2400"/>
                        <a:t>alt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/>
                        <a:t>Alternative image description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854075" y="953135"/>
            <a:ext cx="8280400" cy="9569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400"/>
              <a:t>Attributes give extra information about HTML elements, they are always written inside opening tag.</a:t>
            </a:r>
            <a:endParaRPr lang="en-US" altLang="en-GB" sz="2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8340"/>
            <a:ext cx="10515600" cy="1325563"/>
          </a:xfrm>
        </p:spPr>
        <p:txBody>
          <a:bodyPr/>
          <a:p>
            <a:r>
              <a:rPr lang="en-US" altLang="en-GB" b="1"/>
              <a:t>ID Attributes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22195"/>
            <a:ext cx="10515600" cy="4351338"/>
          </a:xfrm>
        </p:spPr>
        <p:txBody>
          <a:bodyPr/>
          <a:p>
            <a:pPr marL="0" indent="0">
              <a:buNone/>
            </a:pPr>
            <a:r>
              <a:rPr lang="en-US" altLang="en-GB"/>
              <a:t>The ID attribute is used to uniquely identify an HTML element</a:t>
            </a:r>
            <a:endParaRPr lang="en-US" altLang="en-GB"/>
          </a:p>
          <a:p>
            <a:pPr marL="0" indent="0">
              <a:buNone/>
            </a:pPr>
            <a:endParaRPr lang="en-US" altLang="en-GB"/>
          </a:p>
          <a:p>
            <a:pPr marL="0" indent="0">
              <a:buNone/>
            </a:pPr>
            <a:r>
              <a:rPr lang="en-US" altLang="en-GB"/>
              <a:t>Example: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&lt;h1 id=”main-title”&gt;Welcome&lt;/h1&gt;</a:t>
            </a:r>
            <a:endParaRPr lang="en-US" altLang="en-GB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/>
              <a:t>Class Attribute (Ckss)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/>
              <a:t>Used to group multiple elements</a:t>
            </a:r>
            <a:endParaRPr lang="en-US" altLang="en-GB"/>
          </a:p>
          <a:p>
            <a:r>
              <a:rPr lang="en-US" altLang="en-GB"/>
              <a:t>Can be used many times on a page</a:t>
            </a:r>
            <a:endParaRPr lang="en-US" altLang="en-GB"/>
          </a:p>
          <a:p>
            <a:r>
              <a:rPr lang="en-US" altLang="en-GB"/>
              <a:t>Useful for styling with CSS</a:t>
            </a:r>
            <a:endParaRPr lang="en-US" altLang="en-GB"/>
          </a:p>
          <a:p>
            <a:endParaRPr lang="en-US" altLang="en-GB"/>
          </a:p>
          <a:p>
            <a:pPr marL="0" indent="0">
              <a:buNone/>
            </a:pPr>
            <a:r>
              <a:rPr lang="en-US" altLang="en-GB"/>
              <a:t>Example: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&lt;p class=”note”&gt;This is a note.&lt;/p&gt;</a:t>
            </a:r>
            <a:endParaRPr lang="en-US" altLang="en-GB"/>
          </a:p>
          <a:p>
            <a:pPr marL="0" indent="0">
              <a:buNone/>
            </a:pPr>
            <a:r>
              <a:rPr lang="en-US" altLang="en-GB">
                <a:sym typeface="+mn-ea"/>
              </a:rPr>
              <a:t>&lt;p class=”note”&gt;This is another note.&lt;/p&gt;</a:t>
            </a:r>
            <a:endParaRPr lang="en-US" altLang="en-GB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/>
              <a:t>Anchor Attribute (Links)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/>
              <a:t>Used to create hyperlinks</a:t>
            </a:r>
            <a:endParaRPr lang="en-US" altLang="en-GB"/>
          </a:p>
          <a:p>
            <a:r>
              <a:rPr lang="en-US" altLang="en-GB"/>
              <a:t>HTML uses the &lt;a&gt; tag</a:t>
            </a:r>
            <a:endParaRPr lang="en-US" altLang="en-GB"/>
          </a:p>
          <a:p>
            <a:endParaRPr lang="en-US" altLang="en-GB"/>
          </a:p>
          <a:p>
            <a:pPr marL="0" indent="0">
              <a:buNone/>
            </a:pPr>
            <a:r>
              <a:rPr lang="en-US" altLang="en-GB"/>
              <a:t>Example: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&lt;a href=”https://www.google.com”&gt;Visit Google&lt;/a&gt;</a:t>
            </a:r>
            <a:endParaRPr lang="en-US" altLang="en-GB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/>
              <a:t>Method Attribute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25365"/>
          </a:xfrm>
        </p:spPr>
        <p:txBody>
          <a:bodyPr>
            <a:normAutofit lnSpcReduction="20000"/>
          </a:bodyPr>
          <a:p>
            <a:r>
              <a:rPr lang="en-US" altLang="en-GB"/>
              <a:t>Used in HTML forms</a:t>
            </a:r>
            <a:endParaRPr lang="en-US" altLang="en-GB"/>
          </a:p>
          <a:p>
            <a:r>
              <a:rPr lang="en-US" altLang="en-GB"/>
              <a:t>Specifies how data is sent to the server</a:t>
            </a:r>
            <a:endParaRPr lang="en-US" altLang="en-GB"/>
          </a:p>
          <a:p>
            <a:endParaRPr lang="en-US" altLang="en-GB"/>
          </a:p>
          <a:p>
            <a:pPr marL="0" indent="0">
              <a:buNone/>
            </a:pPr>
            <a:r>
              <a:rPr lang="en-US" altLang="en-GB"/>
              <a:t>Types: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GET - Sends data in URL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POST - Sends data securely</a:t>
            </a:r>
            <a:endParaRPr lang="en-US" altLang="en-GB"/>
          </a:p>
          <a:p>
            <a:pPr marL="0" indent="0">
              <a:buNone/>
            </a:pPr>
            <a:endParaRPr lang="en-US" altLang="en-GB"/>
          </a:p>
          <a:p>
            <a:pPr marL="0" indent="0">
              <a:buNone/>
            </a:pPr>
            <a:r>
              <a:rPr lang="en-US" altLang="en-GB"/>
              <a:t>Example: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&lt;form method=”post”&gt;</a:t>
            </a:r>
            <a:endParaRPr lang="en-US" altLang="en-GB"/>
          </a:p>
          <a:p>
            <a:pPr marL="0" indent="457200">
              <a:buNone/>
            </a:pPr>
            <a:r>
              <a:rPr lang="en-US" altLang="en-GB"/>
              <a:t>&lt;input type=”text” name=”username”&gt;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&lt;/form&gt;</a:t>
            </a:r>
            <a:endParaRPr lang="en-US" altLang="en-GB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/>
              <a:t>Title Attribute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/>
              <a:t>Provides extra information about an element</a:t>
            </a:r>
            <a:endParaRPr lang="en-US" altLang="en-GB"/>
          </a:p>
          <a:p>
            <a:r>
              <a:rPr lang="en-US" altLang="en-GB"/>
              <a:t>Appears as a tooltip when you hover</a:t>
            </a:r>
            <a:endParaRPr lang="en-US" altLang="en-GB"/>
          </a:p>
          <a:p>
            <a:endParaRPr lang="en-US" altLang="en-GB"/>
          </a:p>
          <a:p>
            <a:pPr marL="0" indent="0">
              <a:buNone/>
            </a:pPr>
            <a:r>
              <a:rPr lang="en-US" altLang="en-GB"/>
              <a:t>Example: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&lt;p title=”This is a paragraph”&gt;Hover over me&lt;/p&gt;</a:t>
            </a:r>
            <a:endParaRPr lang="en-US" altLang="en-GB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/>
              <a:t>ALT (Alternative Text)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/>
              <a:t>Used in images</a:t>
            </a:r>
            <a:endParaRPr lang="en-US" altLang="en-GB"/>
          </a:p>
          <a:p>
            <a:r>
              <a:rPr lang="en-US" altLang="en-GB"/>
              <a:t>Displays text if image fails to load</a:t>
            </a:r>
            <a:endParaRPr lang="en-US" altLang="en-GB"/>
          </a:p>
          <a:p>
            <a:r>
              <a:rPr lang="en-US" altLang="en-GB"/>
              <a:t>Helps screen readers for accessibility</a:t>
            </a:r>
            <a:endParaRPr lang="en-US" altLang="en-GB"/>
          </a:p>
          <a:p>
            <a:endParaRPr lang="en-US" altLang="en-GB"/>
          </a:p>
          <a:p>
            <a:pPr marL="0" indent="0">
              <a:buNone/>
            </a:pPr>
            <a:r>
              <a:rPr lang="en-US" altLang="en-GB"/>
              <a:t>Example: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&lt;img src=”school.jpg” alt=”A picture of a school building”&gt;</a:t>
            </a:r>
            <a:endParaRPr lang="en-US" altLang="en-GB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35330"/>
            <a:ext cx="10515600" cy="857885"/>
          </a:xfrm>
        </p:spPr>
        <p:txBody>
          <a:bodyPr/>
          <a:p>
            <a:r>
              <a:rPr lang="en-US" altLang="en-GB" b="1"/>
              <a:t>Links &amp; Media tags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10385"/>
            <a:ext cx="10515600" cy="4366895"/>
          </a:xfrm>
        </p:spPr>
        <p:txBody>
          <a:bodyPr/>
          <a:p>
            <a:r>
              <a:rPr lang="en-US" altLang="en-GB"/>
              <a:t>&lt;a&gt; - Link</a:t>
            </a:r>
            <a:endParaRPr lang="en-US" altLang="en-GB"/>
          </a:p>
          <a:p>
            <a:r>
              <a:rPr lang="en-US" altLang="en-GB"/>
              <a:t>&lt;img&gt; - Image</a:t>
            </a:r>
            <a:endParaRPr lang="en-US" altLang="en-GB"/>
          </a:p>
          <a:p>
            <a:r>
              <a:rPr lang="en-US" altLang="en-GB"/>
              <a:t>&lt;audio&gt; - Audio file</a:t>
            </a:r>
            <a:endParaRPr lang="en-US" altLang="en-GB"/>
          </a:p>
          <a:p>
            <a:r>
              <a:rPr lang="en-US" altLang="en-GB"/>
              <a:t>&lt;video&gt; - Video file</a:t>
            </a:r>
            <a:endParaRPr lang="en-US" altLang="en-GB"/>
          </a:p>
          <a:p>
            <a:r>
              <a:rPr lang="en-US" altLang="en-GB"/>
              <a:t>&lt;source&gt; - Media source</a:t>
            </a:r>
            <a:endParaRPr lang="en-US" altLang="en-GB"/>
          </a:p>
          <a:p>
            <a:r>
              <a:rPr lang="en-US" altLang="en-GB"/>
              <a:t>&lt;iframe&gt; - Embed another webpage (YouTube, maps)</a:t>
            </a:r>
            <a:endParaRPr lang="en-US" altLang="en-GB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55090"/>
          </a:xfrm>
        </p:spPr>
        <p:txBody>
          <a:bodyPr/>
          <a:p>
            <a:r>
              <a:rPr lang="en-US" altLang="en-GB" b="1"/>
              <a:t>Table Tags	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/>
              <a:t>&lt;table&gt; - Table container</a:t>
            </a:r>
            <a:endParaRPr lang="en-US" altLang="en-GB"/>
          </a:p>
          <a:p>
            <a:r>
              <a:rPr lang="en-US" altLang="en-GB"/>
              <a:t>&lt;tr&gt; - Table row</a:t>
            </a:r>
            <a:endParaRPr lang="en-US" altLang="en-GB"/>
          </a:p>
          <a:p>
            <a:r>
              <a:rPr lang="en-US" altLang="en-GB"/>
              <a:t>&lt;th&gt; - Table header</a:t>
            </a:r>
            <a:endParaRPr lang="en-US" altLang="en-GB"/>
          </a:p>
          <a:p>
            <a:r>
              <a:rPr lang="en-US" altLang="en-GB"/>
              <a:t>&lt;td&gt; - Table data</a:t>
            </a:r>
            <a:endParaRPr lang="en-US" altLang="en-GB"/>
          </a:p>
          <a:p>
            <a:r>
              <a:rPr lang="en-US" altLang="en-GB"/>
              <a:t>&lt;thead&gt; - Table header section</a:t>
            </a:r>
            <a:endParaRPr lang="en-US" altLang="en-GB"/>
          </a:p>
          <a:p>
            <a:r>
              <a:rPr lang="en-US" altLang="en-GB"/>
              <a:t>&lt;tbody&gt; - Table body</a:t>
            </a:r>
            <a:endParaRPr lang="en-US" altLang="en-GB"/>
          </a:p>
          <a:p>
            <a:r>
              <a:rPr lang="en-US" altLang="en-GB"/>
              <a:t>&lt;tfoot&gt; - Table footer</a:t>
            </a:r>
            <a:endParaRPr lang="en-US" altLang="en-GB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/>
              <a:t>Form Tags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01565"/>
          </a:xfrm>
        </p:spPr>
        <p:txBody>
          <a:bodyPr/>
          <a:p>
            <a:r>
              <a:rPr lang="en-US" altLang="en-GB"/>
              <a:t>&lt;form&gt; - Form container</a:t>
            </a:r>
            <a:endParaRPr lang="en-US" altLang="en-GB"/>
          </a:p>
          <a:p>
            <a:r>
              <a:rPr lang="en-US" altLang="en-GB"/>
              <a:t>&lt;input&gt; - Input field</a:t>
            </a:r>
            <a:endParaRPr lang="en-US" altLang="en-GB"/>
          </a:p>
          <a:p>
            <a:r>
              <a:rPr lang="en-US" altLang="en-GB"/>
              <a:t>&lt;textarea&gt; - Multi-line input</a:t>
            </a:r>
            <a:endParaRPr lang="en-US" altLang="en-GB"/>
          </a:p>
          <a:p>
            <a:r>
              <a:rPr lang="en-US" altLang="en-GB"/>
              <a:t>&lt;button&gt; - Button </a:t>
            </a:r>
            <a:endParaRPr lang="en-US" altLang="en-GB"/>
          </a:p>
          <a:p>
            <a:r>
              <a:rPr lang="en-US" altLang="en-GB"/>
              <a:t>&lt;select&gt; - Dropdown list</a:t>
            </a:r>
            <a:endParaRPr lang="en-US" altLang="en-GB"/>
          </a:p>
          <a:p>
            <a:r>
              <a:rPr lang="en-US" altLang="en-GB"/>
              <a:t>&lt;option&gt; - Dropdown option</a:t>
            </a:r>
            <a:endParaRPr lang="en-US" altLang="en-GB"/>
          </a:p>
          <a:p>
            <a:r>
              <a:rPr lang="en-US" altLang="en-GB"/>
              <a:t>&lt;label&gt; - Label for inputs</a:t>
            </a:r>
            <a:endParaRPr lang="en-US" altLang="en-GB"/>
          </a:p>
          <a:p>
            <a:r>
              <a:rPr lang="en-US" altLang="en-GB"/>
              <a:t>&lt;fieldset&gt; - Group form elements</a:t>
            </a:r>
            <a:endParaRPr lang="en-US" altLang="en-GB"/>
          </a:p>
          <a:p>
            <a:r>
              <a:rPr lang="en-US" altLang="en-GB"/>
              <a:t>&lt;legend&gt; - Title for fieldset</a:t>
            </a:r>
            <a:endParaRPr lang="en-US" altLang="en-GB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0435"/>
          </a:xfrm>
        </p:spPr>
        <p:txBody>
          <a:bodyPr/>
          <a:p>
            <a:r>
              <a:rPr lang="en-US" altLang="en-GB" b="1"/>
              <a:t>Layout &amp; Structure Tags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5560"/>
            <a:ext cx="10515600" cy="4871720"/>
          </a:xfrm>
        </p:spPr>
        <p:txBody>
          <a:bodyPr/>
          <a:p>
            <a:r>
              <a:rPr lang="en-US" altLang="en-GB"/>
              <a:t>&lt;div&gt; - Block container</a:t>
            </a:r>
            <a:endParaRPr lang="en-US" altLang="en-GB"/>
          </a:p>
          <a:p>
            <a:r>
              <a:rPr lang="en-US" altLang="en-GB"/>
              <a:t>&lt;span&gt; - Inline container</a:t>
            </a:r>
            <a:endParaRPr lang="en-US" altLang="en-GB"/>
          </a:p>
          <a:p>
            <a:r>
              <a:rPr lang="en-US" altLang="en-GB"/>
              <a:t>&lt;header&gt; - Page header</a:t>
            </a:r>
            <a:endParaRPr lang="en-US" altLang="en-GB"/>
          </a:p>
          <a:p>
            <a:r>
              <a:rPr lang="en-US" altLang="en-GB"/>
              <a:t>&lt;footer&gt; - Page footer</a:t>
            </a:r>
            <a:endParaRPr lang="en-US" altLang="en-GB"/>
          </a:p>
          <a:p>
            <a:r>
              <a:rPr lang="en-US" altLang="en-GB"/>
              <a:t>&lt;nav&gt; - Navigation menu</a:t>
            </a:r>
            <a:endParaRPr lang="en-US" altLang="en-GB"/>
          </a:p>
          <a:p>
            <a:r>
              <a:rPr lang="en-US" altLang="en-GB"/>
              <a:t>&lt;section&gt; - Section of page</a:t>
            </a:r>
            <a:endParaRPr lang="en-US" altLang="en-GB"/>
          </a:p>
          <a:p>
            <a:r>
              <a:rPr lang="en-US" altLang="en-GB"/>
              <a:t>&lt;article&gt; - Indepntent content</a:t>
            </a:r>
            <a:endParaRPr lang="en-US" altLang="en-GB"/>
          </a:p>
          <a:p>
            <a:r>
              <a:rPr lang="en-US" altLang="en-GB"/>
              <a:t>&lt;aside&gt; - Sidebar content</a:t>
            </a:r>
            <a:endParaRPr lang="en-US" altLang="en-GB"/>
          </a:p>
          <a:p>
            <a:r>
              <a:rPr lang="en-US" altLang="en-GB"/>
              <a:t>&lt;main&gt; - Main content area</a:t>
            </a:r>
            <a:endParaRPr lang="en-US" altLang="en-GB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517*379"/>
  <p:tag name="TABLE_ENDDRAG_RECT" val="84*101*517*379"/>
</p:tagLst>
</file>

<file path=ppt/tags/tag2.xml><?xml version="1.0" encoding="utf-8"?>
<p:tagLst xmlns:p="http://schemas.openxmlformats.org/presentationml/2006/main">
  <p:tag name="TABLE_ENDDRAG_ORIGIN_RECT" val="717*375"/>
  <p:tag name="TABLE_ENDDRAG_RECT" val="67*150*717*37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6945</Words>
  <Application>WPS Presentation</Application>
  <PresentationFormat>Widescreen</PresentationFormat>
  <Paragraphs>440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5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INTRODUCTION TO FRONTEND DEVELOPMENT</vt:lpstr>
      <vt:lpstr>Learning Objectives</vt:lpstr>
      <vt:lpstr>WHAT IS FRONTEND WEB DEVELOPMENT</vt:lpstr>
      <vt:lpstr>Examples of Frontend Elements</vt:lpstr>
      <vt:lpstr>Importance of Frontend Development</vt:lpstr>
      <vt:lpstr>Core Technologies of Frontend Development</vt:lpstr>
      <vt:lpstr>HTML (HyperText Markup Language)</vt:lpstr>
      <vt:lpstr>CSS (Cascading Style Sheets)</vt:lpstr>
      <vt:lpstr>JavaScript</vt:lpstr>
      <vt:lpstr>How they all work together</vt:lpstr>
      <vt:lpstr>Tools used by Frontend Developers</vt:lpstr>
      <vt:lpstr>HTML tags</vt:lpstr>
      <vt:lpstr>Text &amp; Formatting Tags</vt:lpstr>
      <vt:lpstr>Special Characters</vt:lpstr>
      <vt:lpstr>Block Quote</vt:lpstr>
      <vt:lpstr>Comment</vt:lpstr>
      <vt:lpstr>List Tags</vt:lpstr>
      <vt:lpstr>Ordered List</vt:lpstr>
      <vt:lpstr>Unordered List</vt:lpstr>
      <vt:lpstr>Definition List</vt:lpstr>
      <vt:lpstr>Images</vt:lpstr>
      <vt:lpstr>Using Images in HTML</vt:lpstr>
      <vt:lpstr>Getting Images</vt:lpstr>
      <vt:lpstr>Image Considerations</vt:lpstr>
      <vt:lpstr>Types of Images</vt:lpstr>
      <vt:lpstr>Adding an Image</vt:lpstr>
      <vt:lpstr>Attributes</vt:lpstr>
      <vt:lpstr>ID Attributes</vt:lpstr>
      <vt:lpstr>Class Attribute (Ckss)</vt:lpstr>
      <vt:lpstr>Anchor Attribute (Links)</vt:lpstr>
      <vt:lpstr>Method Attribute</vt:lpstr>
      <vt:lpstr>Title Attribute</vt:lpstr>
      <vt:lpstr>ALT (Alternative Text)</vt:lpstr>
      <vt:lpstr>Links &amp; Media tags</vt:lpstr>
      <vt:lpstr>Table Tags	</vt:lpstr>
      <vt:lpstr>Form Tags</vt:lpstr>
      <vt:lpstr>Layout &amp; Structure Tags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Hector</cp:lastModifiedBy>
  <cp:revision>5</cp:revision>
  <dcterms:created xsi:type="dcterms:W3CDTF">2025-07-23T00:59:00Z</dcterms:created>
  <dcterms:modified xsi:type="dcterms:W3CDTF">2026-09-24T14:51:56Z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758F7205AF5A4594B651C298AC490F60_11</vt:lpwstr>
  </property>
  <property fmtid="{D5CDD505-2E9C-101B-9397-08002B2CF9AE}" pid="3" name="KSOProductBuildVer">
    <vt:lpwstr>1033-12.1.0.28485</vt:lpwstr>
  </property>
</Properties>
</file>